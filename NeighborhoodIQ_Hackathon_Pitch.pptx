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01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5200" b="1">
                <a:solidFill>
                  <a:srgbClr val="F8FAFC"/>
                </a:solidFill>
                <a:latin typeface="Aptos"/>
              </a:rPr>
              <a:t>NeighborhoodIQ</a:t>
            </a:r>
            <a:endParaRPr lang="en-US" sz="52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Standardized neighborhood due diligence reports for homebuyers making high-value real estate decisions.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7772400" y="1828800"/>
            <a:ext cx="3063240" cy="2286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8092440" y="21488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00" b="1">
                <a:solidFill>
                  <a:srgbClr val="A1A1AA"/>
                </a:solidFill>
                <a:latin typeface="Aptos"/>
              </a:rPr>
              <a:t>Neighborhood Score</a:t>
            </a:r>
            <a:endParaRPr lang="en-US" sz="1200"/>
          </a:p>
        </p:txBody>
      </p:sp>
      <p:sp>
        <p:nvSpPr>
          <p:cNvPr id="9" name="Shape 9"/>
          <p:cNvSpPr txBox="1"/>
          <p:nvPr/>
        </p:nvSpPr>
        <p:spPr>
          <a:xfrm>
            <a:off x="8092440" y="2514600"/>
            <a:ext cx="1645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5600">
                <a:solidFill>
                  <a:srgbClr val="10B981"/>
                </a:solidFill>
                <a:latin typeface="Aptos"/>
              </a:rPr>
              <a:t>90</a:t>
            </a:r>
            <a:endParaRPr lang="en-US" sz="5600"/>
          </a:p>
        </p:txBody>
      </p:sp>
      <p:sp>
        <p:nvSpPr>
          <p:cNvPr id="10" name="Shape 10"/>
          <p:cNvSpPr txBox="1"/>
          <p:nvPr/>
        </p:nvSpPr>
        <p:spPr>
          <a:xfrm>
            <a:off x="9464040" y="28346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00">
                <a:solidFill>
                  <a:srgbClr val="A1A1AA"/>
                </a:solidFill>
                <a:latin typeface="Aptos"/>
              </a:rPr>
              <a:t>/100</a:t>
            </a:r>
            <a:endParaRPr lang="en-US" sz="1500"/>
          </a:p>
        </p:txBody>
      </p:sp>
      <p:sp>
        <p:nvSpPr>
          <p:cNvPr id="11" name="Rect 11"/>
          <p:cNvSpPr/>
          <p:nvPr/>
        </p:nvSpPr>
        <p:spPr>
          <a:xfrm>
            <a:off x="8138160" y="3657600"/>
            <a:ext cx="233172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731520" y="4663440"/>
            <a:ext cx="6492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900">
                <a:solidFill>
                  <a:srgbClr val="F8FAFC"/>
                </a:solidFill>
                <a:latin typeface="Aptos"/>
              </a:rPr>
              <a:t>Hackathon problem: standardized neighborhood quality data reports</a:t>
            </a:r>
            <a:endParaRPr lang="en-US" sz="1900"/>
          </a:p>
        </p:txBody>
      </p:sp>
      <p:sp>
        <p:nvSpPr>
          <p:cNvPr id="13" name="Shape 13"/>
          <p:cNvSpPr txBox="1"/>
          <p:nvPr/>
        </p:nvSpPr>
        <p:spPr>
          <a:xfrm>
            <a:off x="731520" y="5138928"/>
            <a:ext cx="6492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900">
                <a:solidFill>
                  <a:srgbClr val="F8FAFC"/>
                </a:solidFill>
                <a:latin typeface="Aptos"/>
              </a:rPr>
              <a:t>Built with React, Vite, TypeScript, Leaflet, Recharts, Gemini 2.5 Flash</a:t>
            </a:r>
            <a:endParaRPr lang="en-US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02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Problem Statement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Why do homebuyers lack standardized neighborhood quality data reports?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749808" y="2258568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1005840" y="214884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Property inspection is common. Neighborhood inspection is fragmented.</a:t>
            </a:r>
            <a:endParaRPr lang="en-US" sz="1650"/>
          </a:p>
        </p:txBody>
      </p:sp>
      <p:sp>
        <p:nvSpPr>
          <p:cNvPr id="9" name="Rect 9"/>
          <p:cNvSpPr/>
          <p:nvPr/>
        </p:nvSpPr>
        <p:spPr>
          <a:xfrm>
            <a:off x="749808" y="2825496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1005840" y="271576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Buyers must manually search school quality, safety, AQI, water, power, traffic, flood risk, hospitals and future infra.</a:t>
            </a:r>
            <a:endParaRPr lang="en-US" sz="1650"/>
          </a:p>
        </p:txBody>
      </p:sp>
      <p:sp>
        <p:nvSpPr>
          <p:cNvPr id="11" name="Rect 11"/>
          <p:cNvSpPr/>
          <p:nvPr/>
        </p:nvSpPr>
        <p:spPr>
          <a:xfrm>
            <a:off x="749808" y="3392424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1005840" y="3282696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This creates information asymmetry in multi-crore purchase decisions.</a:t>
            </a:r>
            <a:endParaRPr lang="en-US" sz="16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03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User Pain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Different buyers need different neighborhood answers.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685800" y="2240280"/>
            <a:ext cx="4846320" cy="9601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85800" y="224028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 9"/>
          <p:cNvSpPr txBox="1"/>
          <p:nvPr/>
        </p:nvSpPr>
        <p:spPr>
          <a:xfrm>
            <a:off x="1005840" y="240487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Family: schools, safety, hospitals, AQI</a:t>
            </a:r>
            <a:endParaRPr lang="en-US" sz="1650"/>
          </a:p>
        </p:txBody>
      </p:sp>
      <p:sp>
        <p:nvSpPr>
          <p:cNvPr id="10" name="Rect 10"/>
          <p:cNvSpPr/>
          <p:nvPr/>
        </p:nvSpPr>
        <p:spPr>
          <a:xfrm>
            <a:off x="6080760" y="2240280"/>
            <a:ext cx="4846320" cy="9601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6080760" y="224028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6400800" y="240487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Investor: growth, rental yield, demand, infra upside</a:t>
            </a:r>
            <a:endParaRPr lang="en-US" sz="1650"/>
          </a:p>
        </p:txBody>
      </p:sp>
      <p:sp>
        <p:nvSpPr>
          <p:cNvPr id="13" name="Rect 13"/>
          <p:cNvSpPr/>
          <p:nvPr/>
        </p:nvSpPr>
        <p:spPr>
          <a:xfrm>
            <a:off x="685800" y="3566160"/>
            <a:ext cx="4846320" cy="9601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85800" y="356616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hape 15"/>
          <p:cNvSpPr txBox="1"/>
          <p:nvPr/>
        </p:nvSpPr>
        <p:spPr>
          <a:xfrm>
            <a:off x="1005840" y="373075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Commuter: traffic, transit, travel predictability</a:t>
            </a:r>
            <a:endParaRPr lang="en-US" sz="1650"/>
          </a:p>
        </p:txBody>
      </p:sp>
      <p:sp>
        <p:nvSpPr>
          <p:cNvPr id="16" name="Rect 16"/>
          <p:cNvSpPr/>
          <p:nvPr/>
        </p:nvSpPr>
        <p:spPr>
          <a:xfrm>
            <a:off x="6080760" y="3566160"/>
            <a:ext cx="4846320" cy="9601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6080760" y="3566160"/>
            <a:ext cx="73152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 18"/>
          <p:cNvSpPr txBox="1"/>
          <p:nvPr/>
        </p:nvSpPr>
        <p:spPr>
          <a:xfrm>
            <a:off x="6400800" y="373075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Senior citizen: hospitals, safety, noise, utilities</a:t>
            </a:r>
            <a:endParaRPr lang="en-US" sz="1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04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Our Solution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NeighborhoodIQ generates a standardized, comparable, exportable neighborhood due diligence report.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749808" y="2258568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1005840" y="214884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Search city, society or exact property micro-market.</a:t>
            </a:r>
            <a:endParaRPr lang="en-US" sz="1650"/>
          </a:p>
        </p:txBody>
      </p:sp>
      <p:sp>
        <p:nvSpPr>
          <p:cNvPr id="9" name="Rect 9"/>
          <p:cNvSpPr/>
          <p:nvPr/>
        </p:nvSpPr>
        <p:spPr>
          <a:xfrm>
            <a:off x="749808" y="2825496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1005840" y="271576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Generate a 10-part Neighborhood Report Card.</a:t>
            </a:r>
            <a:endParaRPr lang="en-US" sz="1650"/>
          </a:p>
        </p:txBody>
      </p:sp>
      <p:sp>
        <p:nvSpPr>
          <p:cNvPr id="11" name="Rect 11"/>
          <p:cNvSpPr/>
          <p:nvPr/>
        </p:nvSpPr>
        <p:spPr>
          <a:xfrm>
            <a:off x="749808" y="3392424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1005840" y="3282696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Show AI buyer verdict, risk meter, deal-breaker match, source confidence and PDF export.</a:t>
            </a:r>
            <a:endParaRPr lang="en-US" sz="1650"/>
          </a:p>
        </p:txBody>
      </p:sp>
      <p:sp>
        <p:nvSpPr>
          <p:cNvPr id="13" name="Rect 13"/>
          <p:cNvSpPr/>
          <p:nvPr/>
        </p:nvSpPr>
        <p:spPr>
          <a:xfrm>
            <a:off x="749808" y="3959352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1005840" y="3849624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Compare multiple areas side by side.</a:t>
            </a:r>
            <a:endParaRPr lang="en-US" sz="1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05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Core Report Card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Same scoring format for every neighborhood.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685800" y="2057400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868680" y="2112264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01. Education Index</a:t>
            </a:r>
            <a:endParaRPr lang="en-US" sz="1250"/>
          </a:p>
        </p:txBody>
      </p:sp>
      <p:sp>
        <p:nvSpPr>
          <p:cNvPr id="9" name="Rect 9"/>
          <p:cNvSpPr/>
          <p:nvPr/>
        </p:nvSpPr>
        <p:spPr>
          <a:xfrm>
            <a:off x="5943600" y="2057400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6126480" y="2112264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02. Safety Index</a:t>
            </a:r>
            <a:endParaRPr lang="en-US" sz="1250"/>
          </a:p>
        </p:txBody>
      </p:sp>
      <p:sp>
        <p:nvSpPr>
          <p:cNvPr id="11" name="Rect 11"/>
          <p:cNvSpPr/>
          <p:nvPr/>
        </p:nvSpPr>
        <p:spPr>
          <a:xfrm>
            <a:off x="685800" y="2679192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868680" y="2734056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03. Air Quality Index</a:t>
            </a:r>
            <a:endParaRPr lang="en-US" sz="1250"/>
          </a:p>
        </p:txBody>
      </p:sp>
      <p:sp>
        <p:nvSpPr>
          <p:cNvPr id="13" name="Rect 13"/>
          <p:cNvSpPr/>
          <p:nvPr/>
        </p:nvSpPr>
        <p:spPr>
          <a:xfrm>
            <a:off x="5943600" y="2679192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6126480" y="2734056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04. Utilities Reliability</a:t>
            </a:r>
            <a:endParaRPr lang="en-US" sz="1250"/>
          </a:p>
        </p:txBody>
      </p:sp>
      <p:sp>
        <p:nvSpPr>
          <p:cNvPr id="15" name="Rect 15"/>
          <p:cNvSpPr/>
          <p:nvPr/>
        </p:nvSpPr>
        <p:spPr>
          <a:xfrm>
            <a:off x="685800" y="3300984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868680" y="3355848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05. Healthcare Access</a:t>
            </a:r>
            <a:endParaRPr lang="en-US" sz="1250"/>
          </a:p>
        </p:txBody>
      </p:sp>
      <p:sp>
        <p:nvSpPr>
          <p:cNvPr id="17" name="Rect 17"/>
          <p:cNvSpPr/>
          <p:nvPr/>
        </p:nvSpPr>
        <p:spPr>
          <a:xfrm>
            <a:off x="5943600" y="3300984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 txBox="1"/>
          <p:nvPr/>
        </p:nvSpPr>
        <p:spPr>
          <a:xfrm>
            <a:off x="6126480" y="3355848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06. Traffic and Commute</a:t>
            </a:r>
            <a:endParaRPr lang="en-US" sz="1250"/>
          </a:p>
        </p:txBody>
      </p:sp>
      <p:sp>
        <p:nvSpPr>
          <p:cNvPr id="19" name="Rect 19"/>
          <p:cNvSpPr/>
          <p:nvPr/>
        </p:nvSpPr>
        <p:spPr>
          <a:xfrm>
            <a:off x="685800" y="3922776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 txBox="1"/>
          <p:nvPr/>
        </p:nvSpPr>
        <p:spPr>
          <a:xfrm>
            <a:off x="868680" y="3977640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07. Climate/Flood Risk</a:t>
            </a:r>
            <a:endParaRPr lang="en-US" sz="1250"/>
          </a:p>
        </p:txBody>
      </p:sp>
      <p:sp>
        <p:nvSpPr>
          <p:cNvPr id="21" name="Rect 21"/>
          <p:cNvSpPr/>
          <p:nvPr/>
        </p:nvSpPr>
        <p:spPr>
          <a:xfrm>
            <a:off x="5943600" y="3922776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 txBox="1"/>
          <p:nvPr/>
        </p:nvSpPr>
        <p:spPr>
          <a:xfrm>
            <a:off x="6126480" y="3977640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08. Future Infrastructure</a:t>
            </a:r>
            <a:endParaRPr lang="en-US" sz="1250"/>
          </a:p>
        </p:txBody>
      </p:sp>
      <p:sp>
        <p:nvSpPr>
          <p:cNvPr id="23" name="Rect 23"/>
          <p:cNvSpPr/>
          <p:nvPr/>
        </p:nvSpPr>
        <p:spPr>
          <a:xfrm>
            <a:off x="685800" y="4544568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4" name="Shape 24"/>
          <p:cNvSpPr txBox="1"/>
          <p:nvPr/>
        </p:nvSpPr>
        <p:spPr>
          <a:xfrm>
            <a:off x="868680" y="459943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09. Livability Score</a:t>
            </a:r>
            <a:endParaRPr lang="en-US" sz="1250"/>
          </a:p>
        </p:txBody>
      </p:sp>
      <p:sp>
        <p:nvSpPr>
          <p:cNvPr id="25" name="Rect 25"/>
          <p:cNvSpPr/>
          <p:nvPr/>
        </p:nvSpPr>
        <p:spPr>
          <a:xfrm>
            <a:off x="5943600" y="4544568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 txBox="1"/>
          <p:nvPr/>
        </p:nvSpPr>
        <p:spPr>
          <a:xfrm>
            <a:off x="6126480" y="459943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10. Investment Outlook</a:t>
            </a:r>
            <a:endParaRPr lang="en-US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06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Hackathon-Winning Features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The product turns raw data into buyer decisions.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749808" y="2258568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1005840" y="214884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AI Buyer Verdict: best-fit buyer type and caution zones.</a:t>
            </a:r>
            <a:endParaRPr lang="en-US" sz="1650"/>
          </a:p>
        </p:txBody>
      </p:sp>
      <p:sp>
        <p:nvSpPr>
          <p:cNvPr id="9" name="Rect 9"/>
          <p:cNvSpPr/>
          <p:nvPr/>
        </p:nvSpPr>
        <p:spPr>
          <a:xfrm>
            <a:off x="749808" y="2825496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1005840" y="271576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Neighborhood Passport: compact summary for presentation and sharing.</a:t>
            </a:r>
            <a:endParaRPr lang="en-US" sz="1650"/>
          </a:p>
        </p:txBody>
      </p:sp>
      <p:sp>
        <p:nvSpPr>
          <p:cNvPr id="11" name="Rect 11"/>
          <p:cNvSpPr/>
          <p:nvPr/>
        </p:nvSpPr>
        <p:spPr>
          <a:xfrm>
            <a:off x="749808" y="3392424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1005840" y="3282696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Risk Heat Meter: low/moderate/high risk visualization.</a:t>
            </a:r>
            <a:endParaRPr lang="en-US" sz="1650"/>
          </a:p>
        </p:txBody>
      </p:sp>
      <p:sp>
        <p:nvSpPr>
          <p:cNvPr id="13" name="Rect 13"/>
          <p:cNvSpPr/>
          <p:nvPr/>
        </p:nvSpPr>
        <p:spPr>
          <a:xfrm>
            <a:off x="749808" y="3959352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1005840" y="3849624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Deal Breaker Match: buyer toggles non-negotiables.</a:t>
            </a:r>
            <a:endParaRPr lang="en-US" sz="1650"/>
          </a:p>
        </p:txBody>
      </p:sp>
      <p:sp>
        <p:nvSpPr>
          <p:cNvPr id="15" name="Rect 15"/>
          <p:cNvSpPr/>
          <p:nvPr/>
        </p:nvSpPr>
        <p:spPr>
          <a:xfrm>
            <a:off x="749808" y="4526280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1005840" y="4416552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Ask NeighborhoodIQ: quick Q&amp;A from report context.</a:t>
            </a:r>
            <a:endParaRPr lang="en-US" sz="1650"/>
          </a:p>
        </p:txBody>
      </p:sp>
      <p:sp>
        <p:nvSpPr>
          <p:cNvPr id="17" name="Rect 17"/>
          <p:cNvSpPr/>
          <p:nvPr/>
        </p:nvSpPr>
        <p:spPr>
          <a:xfrm>
            <a:off x="749808" y="5093208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 18"/>
          <p:cNvSpPr txBox="1"/>
          <p:nvPr/>
        </p:nvSpPr>
        <p:spPr>
          <a:xfrm>
            <a:off x="1005840" y="498348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Nearby Alternatives: suggests comparable areas.</a:t>
            </a:r>
            <a:endParaRPr lang="en-US" sz="1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07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Trust Layer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Designed for high-stakes decisions, not just pretty charts.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749808" y="2258568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1005840" y="214884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Evidence ledger for every critical metric.</a:t>
            </a:r>
            <a:endParaRPr lang="en-US" sz="1650"/>
          </a:p>
        </p:txBody>
      </p:sp>
      <p:sp>
        <p:nvSpPr>
          <p:cNvPr id="9" name="Rect 9"/>
          <p:cNvSpPr/>
          <p:nvPr/>
        </p:nvSpPr>
        <p:spPr>
          <a:xfrm>
            <a:off x="749808" y="2825496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1005840" y="271576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Confidence labels: High, Medium, Low.</a:t>
            </a:r>
            <a:endParaRPr lang="en-US" sz="1650"/>
          </a:p>
        </p:txBody>
      </p:sp>
      <p:sp>
        <p:nvSpPr>
          <p:cNvPr id="11" name="Rect 11"/>
          <p:cNvSpPr/>
          <p:nvPr/>
        </p:nvSpPr>
        <p:spPr>
          <a:xfrm>
            <a:off x="749808" y="3392424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1005840" y="3282696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Data mode labels: Live, Estimated, AI inferred.</a:t>
            </a:r>
            <a:endParaRPr lang="en-US" sz="1650"/>
          </a:p>
        </p:txBody>
      </p:sp>
      <p:sp>
        <p:nvSpPr>
          <p:cNvPr id="13" name="Rect 13"/>
          <p:cNvSpPr/>
          <p:nvPr/>
        </p:nvSpPr>
        <p:spPr>
          <a:xfrm>
            <a:off x="749808" y="3959352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1005840" y="3849624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Last-updated timestamps and buyer due-diligence disclaimer.</a:t>
            </a:r>
            <a:endParaRPr lang="en-US" sz="1650"/>
          </a:p>
        </p:txBody>
      </p:sp>
      <p:sp>
        <p:nvSpPr>
          <p:cNvPr id="15" name="Rect 15"/>
          <p:cNvSpPr/>
          <p:nvPr/>
        </p:nvSpPr>
        <p:spPr>
          <a:xfrm>
            <a:off x="749808" y="4526280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1005840" y="4416552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Fallback data engine keeps demos reliable if API quota fails.</a:t>
            </a:r>
            <a:endParaRPr lang="en-US" sz="16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08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App Features Built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What is already implemented in the working project.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685800" y="2057400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868680" y="2112264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01. Map scan flow</a:t>
            </a:r>
            <a:endParaRPr lang="en-US" sz="1250"/>
          </a:p>
        </p:txBody>
      </p:sp>
      <p:sp>
        <p:nvSpPr>
          <p:cNvPr id="9" name="Rect 9"/>
          <p:cNvSpPr/>
          <p:nvPr/>
        </p:nvSpPr>
        <p:spPr>
          <a:xfrm>
            <a:off x="5943600" y="2057400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6126480" y="2112264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02. Full-screen report panel</a:t>
            </a:r>
            <a:endParaRPr lang="en-US" sz="1250"/>
          </a:p>
        </p:txBody>
      </p:sp>
      <p:sp>
        <p:nvSpPr>
          <p:cNvPr id="11" name="Rect 11"/>
          <p:cNvSpPr/>
          <p:nvPr/>
        </p:nvSpPr>
        <p:spPr>
          <a:xfrm>
            <a:off x="685800" y="2679192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868680" y="2734056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03. Gemini 2.5 Flash reports</a:t>
            </a:r>
            <a:endParaRPr lang="en-US" sz="1250"/>
          </a:p>
        </p:txBody>
      </p:sp>
      <p:sp>
        <p:nvSpPr>
          <p:cNvPr id="13" name="Rect 13"/>
          <p:cNvSpPr/>
          <p:nvPr/>
        </p:nvSpPr>
        <p:spPr>
          <a:xfrm>
            <a:off x="5943600" y="2679192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6126480" y="2734056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04. Fallback report mode</a:t>
            </a:r>
            <a:endParaRPr lang="en-US" sz="1250"/>
          </a:p>
        </p:txBody>
      </p:sp>
      <p:sp>
        <p:nvSpPr>
          <p:cNvPr id="15" name="Rect 15"/>
          <p:cNvSpPr/>
          <p:nvPr/>
        </p:nvSpPr>
        <p:spPr>
          <a:xfrm>
            <a:off x="685800" y="3300984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868680" y="3355848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05. Report PDF export</a:t>
            </a:r>
            <a:endParaRPr lang="en-US" sz="1250"/>
          </a:p>
        </p:txBody>
      </p:sp>
      <p:sp>
        <p:nvSpPr>
          <p:cNvPr id="17" name="Rect 17"/>
          <p:cNvSpPr/>
          <p:nvPr/>
        </p:nvSpPr>
        <p:spPr>
          <a:xfrm>
            <a:off x="5943600" y="3300984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 txBox="1"/>
          <p:nvPr/>
        </p:nvSpPr>
        <p:spPr>
          <a:xfrm>
            <a:off x="6126480" y="3355848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06. Embed widget</a:t>
            </a:r>
            <a:endParaRPr lang="en-US" sz="1250"/>
          </a:p>
        </p:txBody>
      </p:sp>
      <p:sp>
        <p:nvSpPr>
          <p:cNvPr id="19" name="Rect 19"/>
          <p:cNvSpPr/>
          <p:nvPr/>
        </p:nvSpPr>
        <p:spPr>
          <a:xfrm>
            <a:off x="685800" y="3922776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 txBox="1"/>
          <p:nvPr/>
        </p:nvSpPr>
        <p:spPr>
          <a:xfrm>
            <a:off x="868680" y="3977640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07. Compare page</a:t>
            </a:r>
            <a:endParaRPr lang="en-US" sz="1250"/>
          </a:p>
        </p:txBody>
      </p:sp>
      <p:sp>
        <p:nvSpPr>
          <p:cNvPr id="21" name="Rect 21"/>
          <p:cNvSpPr/>
          <p:nvPr/>
        </p:nvSpPr>
        <p:spPr>
          <a:xfrm>
            <a:off x="5943600" y="3922776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 txBox="1"/>
          <p:nvPr/>
        </p:nvSpPr>
        <p:spPr>
          <a:xfrm>
            <a:off x="6126480" y="3977640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08. Persona weighting</a:t>
            </a:r>
            <a:endParaRPr lang="en-US" sz="1250"/>
          </a:p>
        </p:txBody>
      </p:sp>
      <p:sp>
        <p:nvSpPr>
          <p:cNvPr id="23" name="Rect 23"/>
          <p:cNvSpPr/>
          <p:nvPr/>
        </p:nvSpPr>
        <p:spPr>
          <a:xfrm>
            <a:off x="685800" y="4544568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4" name="Shape 24"/>
          <p:cNvSpPr txBox="1"/>
          <p:nvPr/>
        </p:nvSpPr>
        <p:spPr>
          <a:xfrm>
            <a:off x="868680" y="459943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09. Red flags and positives</a:t>
            </a:r>
            <a:endParaRPr lang="en-US" sz="1250"/>
          </a:p>
        </p:txBody>
      </p:sp>
      <p:sp>
        <p:nvSpPr>
          <p:cNvPr id="25" name="Rect 25"/>
          <p:cNvSpPr/>
          <p:nvPr/>
        </p:nvSpPr>
        <p:spPr>
          <a:xfrm>
            <a:off x="5943600" y="4544568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 txBox="1"/>
          <p:nvPr/>
        </p:nvSpPr>
        <p:spPr>
          <a:xfrm>
            <a:off x="6126480" y="459943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10. Ask box</a:t>
            </a:r>
            <a:endParaRPr lang="en-US" sz="1250"/>
          </a:p>
        </p:txBody>
      </p:sp>
      <p:sp>
        <p:nvSpPr>
          <p:cNvPr id="27" name="Rect 27"/>
          <p:cNvSpPr/>
          <p:nvPr/>
        </p:nvSpPr>
        <p:spPr>
          <a:xfrm>
            <a:off x="685800" y="5166360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 txBox="1"/>
          <p:nvPr/>
        </p:nvSpPr>
        <p:spPr>
          <a:xfrm>
            <a:off x="868680" y="5221224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11. Deal breakers</a:t>
            </a:r>
            <a:endParaRPr lang="en-US" sz="1250"/>
          </a:p>
        </p:txBody>
      </p:sp>
      <p:sp>
        <p:nvSpPr>
          <p:cNvPr id="29" name="Rect 29"/>
          <p:cNvSpPr/>
          <p:nvPr/>
        </p:nvSpPr>
        <p:spPr>
          <a:xfrm>
            <a:off x="5943600" y="5166360"/>
            <a:ext cx="4709160" cy="42062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 txBox="1"/>
          <p:nvPr/>
        </p:nvSpPr>
        <p:spPr>
          <a:xfrm>
            <a:off x="6126480" y="5221224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50">
                <a:solidFill>
                  <a:srgbClr val="F8FAFC"/>
                </a:solidFill>
                <a:latin typeface="Aptos"/>
              </a:rPr>
              <a:t>12. Nearby alternatives</a:t>
            </a:r>
            <a:endParaRPr lang="en-US"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09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Demo Script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Two-minute judging flow.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594360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731520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1</a:t>
            </a:r>
            <a:endParaRPr lang="en-US" sz="1450"/>
          </a:p>
        </p:txBody>
      </p:sp>
      <p:sp>
        <p:nvSpPr>
          <p:cNvPr id="9" name="Shape 9"/>
          <p:cNvSpPr txBox="1"/>
          <p:nvPr/>
        </p:nvSpPr>
        <p:spPr>
          <a:xfrm>
            <a:off x="502920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Login</a:t>
            </a:r>
            <a:endParaRPr lang="en-US" sz="820"/>
          </a:p>
        </p:txBody>
      </p:sp>
      <p:cxnSp>
        <p:nvCxnSpPr>
          <p:cNvPr id="10" name="Line 10"/>
          <p:cNvCxnSpPr/>
          <p:nvPr/>
        </p:nvCxnSpPr>
        <p:spPr>
          <a:xfrm>
            <a:off x="1463040" y="3200400"/>
            <a:ext cx="292608" cy="0"/>
          </a:xfrm>
          <a:prstGeom prst="line">
            <a:avLst/>
          </a:prstGeom>
          <a:ln w="19050">
            <a:solidFill>
              <a:srgbClr val="F59E0B"/>
            </a:solidFill>
          </a:ln>
        </p:spPr>
      </p:cxnSp>
      <p:sp>
        <p:nvSpPr>
          <p:cNvPr id="11" name="Rect 11"/>
          <p:cNvSpPr/>
          <p:nvPr/>
        </p:nvSpPr>
        <p:spPr>
          <a:xfrm>
            <a:off x="1755648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1892808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2</a:t>
            </a:r>
            <a:endParaRPr lang="en-US" sz="1450"/>
          </a:p>
        </p:txBody>
      </p:sp>
      <p:sp>
        <p:nvSpPr>
          <p:cNvPr id="13" name="Shape 13"/>
          <p:cNvSpPr txBox="1"/>
          <p:nvPr/>
        </p:nvSpPr>
        <p:spPr>
          <a:xfrm>
            <a:off x="1664208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Dashboard</a:t>
            </a:r>
            <a:endParaRPr lang="en-US" sz="820"/>
          </a:p>
        </p:txBody>
      </p:sp>
      <p:cxnSp>
        <p:nvCxnSpPr>
          <p:cNvPr id="14" name="Line 14"/>
          <p:cNvCxnSpPr/>
          <p:nvPr/>
        </p:nvCxnSpPr>
        <p:spPr>
          <a:xfrm>
            <a:off x="2624328" y="3200400"/>
            <a:ext cx="292608" cy="0"/>
          </a:xfrm>
          <a:prstGeom prst="line">
            <a:avLst/>
          </a:prstGeom>
          <a:ln w="19050">
            <a:solidFill>
              <a:srgbClr val="F59E0B"/>
            </a:solidFill>
          </a:ln>
        </p:spPr>
      </p:cxnSp>
      <p:sp>
        <p:nvSpPr>
          <p:cNvPr id="15" name="Rect 15"/>
          <p:cNvSpPr/>
          <p:nvPr/>
        </p:nvSpPr>
        <p:spPr>
          <a:xfrm>
            <a:off x="2916936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3054096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3</a:t>
            </a:r>
            <a:endParaRPr lang="en-US" sz="1450"/>
          </a:p>
        </p:txBody>
      </p:sp>
      <p:sp>
        <p:nvSpPr>
          <p:cNvPr id="17" name="Shape 17"/>
          <p:cNvSpPr txBox="1"/>
          <p:nvPr/>
        </p:nvSpPr>
        <p:spPr>
          <a:xfrm>
            <a:off x="2825496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New Scan</a:t>
            </a:r>
            <a:endParaRPr lang="en-US" sz="820"/>
          </a:p>
        </p:txBody>
      </p:sp>
      <p:cxnSp>
        <p:nvCxnSpPr>
          <p:cNvPr id="18" name="Line 18"/>
          <p:cNvCxnSpPr/>
          <p:nvPr/>
        </p:nvCxnSpPr>
        <p:spPr>
          <a:xfrm>
            <a:off x="3785616" y="3200400"/>
            <a:ext cx="292608" cy="0"/>
          </a:xfrm>
          <a:prstGeom prst="line">
            <a:avLst/>
          </a:prstGeom>
          <a:ln w="19050">
            <a:solidFill>
              <a:srgbClr val="F59E0B"/>
            </a:solidFill>
          </a:ln>
        </p:spPr>
      </p:cxnSp>
      <p:sp>
        <p:nvSpPr>
          <p:cNvPr id="19" name="Rect 19"/>
          <p:cNvSpPr/>
          <p:nvPr/>
        </p:nvSpPr>
        <p:spPr>
          <a:xfrm>
            <a:off x="4078224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 txBox="1"/>
          <p:nvPr/>
        </p:nvSpPr>
        <p:spPr>
          <a:xfrm>
            <a:off x="4215384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4</a:t>
            </a:r>
            <a:endParaRPr lang="en-US" sz="1450"/>
          </a:p>
        </p:txBody>
      </p:sp>
      <p:sp>
        <p:nvSpPr>
          <p:cNvPr id="21" name="Shape 21"/>
          <p:cNvSpPr txBox="1"/>
          <p:nvPr/>
        </p:nvSpPr>
        <p:spPr>
          <a:xfrm>
            <a:off x="3986784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Enter Area</a:t>
            </a:r>
            <a:endParaRPr lang="en-US" sz="820"/>
          </a:p>
        </p:txBody>
      </p:sp>
      <p:cxnSp>
        <p:nvCxnSpPr>
          <p:cNvPr id="22" name="Line 22"/>
          <p:cNvCxnSpPr/>
          <p:nvPr/>
        </p:nvCxnSpPr>
        <p:spPr>
          <a:xfrm>
            <a:off x="4946904" y="3200400"/>
            <a:ext cx="292608" cy="0"/>
          </a:xfrm>
          <a:prstGeom prst="line">
            <a:avLst/>
          </a:prstGeom>
          <a:ln w="19050">
            <a:solidFill>
              <a:srgbClr val="F59E0B"/>
            </a:solidFill>
          </a:ln>
        </p:spPr>
      </p:cxnSp>
      <p:sp>
        <p:nvSpPr>
          <p:cNvPr id="23" name="Rect 23"/>
          <p:cNvSpPr/>
          <p:nvPr/>
        </p:nvSpPr>
        <p:spPr>
          <a:xfrm>
            <a:off x="5239512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4" name="Shape 24"/>
          <p:cNvSpPr txBox="1"/>
          <p:nvPr/>
        </p:nvSpPr>
        <p:spPr>
          <a:xfrm>
            <a:off x="5376672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5</a:t>
            </a:r>
            <a:endParaRPr lang="en-US" sz="1450"/>
          </a:p>
        </p:txBody>
      </p:sp>
      <p:sp>
        <p:nvSpPr>
          <p:cNvPr id="25" name="Shape 25"/>
          <p:cNvSpPr txBox="1"/>
          <p:nvPr/>
        </p:nvSpPr>
        <p:spPr>
          <a:xfrm>
            <a:off x="5148072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Fullscreen Report</a:t>
            </a:r>
            <a:endParaRPr lang="en-US" sz="820"/>
          </a:p>
        </p:txBody>
      </p:sp>
      <p:cxnSp>
        <p:nvCxnSpPr>
          <p:cNvPr id="26" name="Line 26"/>
          <p:cNvCxnSpPr/>
          <p:nvPr/>
        </p:nvCxnSpPr>
        <p:spPr>
          <a:xfrm>
            <a:off x="6108192" y="3200400"/>
            <a:ext cx="292608" cy="0"/>
          </a:xfrm>
          <a:prstGeom prst="line">
            <a:avLst/>
          </a:prstGeom>
          <a:ln w="19050">
            <a:solidFill>
              <a:srgbClr val="F59E0B"/>
            </a:solidFill>
          </a:ln>
        </p:spPr>
      </p:cxnSp>
      <p:sp>
        <p:nvSpPr>
          <p:cNvPr id="27" name="Rect 27"/>
          <p:cNvSpPr/>
          <p:nvPr/>
        </p:nvSpPr>
        <p:spPr>
          <a:xfrm>
            <a:off x="6400800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 txBox="1"/>
          <p:nvPr/>
        </p:nvSpPr>
        <p:spPr>
          <a:xfrm>
            <a:off x="6537960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6</a:t>
            </a:r>
            <a:endParaRPr lang="en-US" sz="1450"/>
          </a:p>
        </p:txBody>
      </p:sp>
      <p:sp>
        <p:nvSpPr>
          <p:cNvPr id="29" name="Shape 29"/>
          <p:cNvSpPr txBox="1"/>
          <p:nvPr/>
        </p:nvSpPr>
        <p:spPr>
          <a:xfrm>
            <a:off x="6309360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Switch Persona</a:t>
            </a:r>
            <a:endParaRPr lang="en-US" sz="820"/>
          </a:p>
        </p:txBody>
      </p:sp>
      <p:cxnSp>
        <p:nvCxnSpPr>
          <p:cNvPr id="30" name="Line 30"/>
          <p:cNvCxnSpPr/>
          <p:nvPr/>
        </p:nvCxnSpPr>
        <p:spPr>
          <a:xfrm>
            <a:off x="7269480" y="3200400"/>
            <a:ext cx="292608" cy="0"/>
          </a:xfrm>
          <a:prstGeom prst="line">
            <a:avLst/>
          </a:prstGeom>
          <a:ln w="19050">
            <a:solidFill>
              <a:srgbClr val="F59E0B"/>
            </a:solidFill>
          </a:ln>
        </p:spPr>
      </p:cxnSp>
      <p:sp>
        <p:nvSpPr>
          <p:cNvPr id="31" name="Rect 31"/>
          <p:cNvSpPr/>
          <p:nvPr/>
        </p:nvSpPr>
        <p:spPr>
          <a:xfrm>
            <a:off x="7562088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32" name="Shape 32"/>
          <p:cNvSpPr txBox="1"/>
          <p:nvPr/>
        </p:nvSpPr>
        <p:spPr>
          <a:xfrm>
            <a:off x="7699248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7</a:t>
            </a:r>
            <a:endParaRPr lang="en-US" sz="1450"/>
          </a:p>
        </p:txBody>
      </p:sp>
      <p:sp>
        <p:nvSpPr>
          <p:cNvPr id="33" name="Shape 33"/>
          <p:cNvSpPr txBox="1"/>
          <p:nvPr/>
        </p:nvSpPr>
        <p:spPr>
          <a:xfrm>
            <a:off x="7470648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Deal Breakers</a:t>
            </a:r>
            <a:endParaRPr lang="en-US" sz="820"/>
          </a:p>
        </p:txBody>
      </p:sp>
      <p:cxnSp>
        <p:nvCxnSpPr>
          <p:cNvPr id="34" name="Line 34"/>
          <p:cNvCxnSpPr/>
          <p:nvPr/>
        </p:nvCxnSpPr>
        <p:spPr>
          <a:xfrm>
            <a:off x="8430768" y="3200400"/>
            <a:ext cx="292608" cy="0"/>
          </a:xfrm>
          <a:prstGeom prst="line">
            <a:avLst/>
          </a:prstGeom>
          <a:ln w="19050">
            <a:solidFill>
              <a:srgbClr val="F59E0B"/>
            </a:solidFill>
          </a:ln>
        </p:spPr>
      </p:cxnSp>
      <p:sp>
        <p:nvSpPr>
          <p:cNvPr id="35" name="Rect 35"/>
          <p:cNvSpPr/>
          <p:nvPr/>
        </p:nvSpPr>
        <p:spPr>
          <a:xfrm>
            <a:off x="8723376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36" name="Shape 36"/>
          <p:cNvSpPr txBox="1"/>
          <p:nvPr/>
        </p:nvSpPr>
        <p:spPr>
          <a:xfrm>
            <a:off x="8860536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8</a:t>
            </a:r>
            <a:endParaRPr lang="en-US" sz="1450"/>
          </a:p>
        </p:txBody>
      </p:sp>
      <p:sp>
        <p:nvSpPr>
          <p:cNvPr id="37" name="Shape 37"/>
          <p:cNvSpPr txBox="1"/>
          <p:nvPr/>
        </p:nvSpPr>
        <p:spPr>
          <a:xfrm>
            <a:off x="8631936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Ask AI</a:t>
            </a:r>
            <a:endParaRPr lang="en-US" sz="820"/>
          </a:p>
        </p:txBody>
      </p:sp>
      <p:cxnSp>
        <p:nvCxnSpPr>
          <p:cNvPr id="38" name="Line 38"/>
          <p:cNvCxnSpPr/>
          <p:nvPr/>
        </p:nvCxnSpPr>
        <p:spPr>
          <a:xfrm>
            <a:off x="9592056" y="3200400"/>
            <a:ext cx="292608" cy="0"/>
          </a:xfrm>
          <a:prstGeom prst="line">
            <a:avLst/>
          </a:prstGeom>
          <a:ln w="19050">
            <a:solidFill>
              <a:srgbClr val="F59E0B"/>
            </a:solidFill>
          </a:ln>
        </p:spPr>
      </p:cxnSp>
      <p:sp>
        <p:nvSpPr>
          <p:cNvPr id="39" name="Rect 39"/>
          <p:cNvSpPr/>
          <p:nvPr/>
        </p:nvSpPr>
        <p:spPr>
          <a:xfrm>
            <a:off x="9884664" y="2880360"/>
            <a:ext cx="868680" cy="6400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40" name="Shape 40"/>
          <p:cNvSpPr txBox="1"/>
          <p:nvPr/>
        </p:nvSpPr>
        <p:spPr>
          <a:xfrm>
            <a:off x="10021824" y="299008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450" b="1">
                <a:solidFill>
                  <a:srgbClr val="F59E0B"/>
                </a:solidFill>
                <a:latin typeface="Aptos"/>
              </a:rPr>
              <a:t>9</a:t>
            </a:r>
            <a:endParaRPr lang="en-US" sz="1450"/>
          </a:p>
        </p:txBody>
      </p:sp>
      <p:sp>
        <p:nvSpPr>
          <p:cNvPr id="41" name="Shape 41"/>
          <p:cNvSpPr txBox="1"/>
          <p:nvPr/>
        </p:nvSpPr>
        <p:spPr>
          <a:xfrm>
            <a:off x="9793224" y="3630168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820">
                <a:solidFill>
                  <a:srgbClr val="F8FAFC"/>
                </a:solidFill>
                <a:latin typeface="Aptos"/>
              </a:rPr>
              <a:t>Export PDF</a:t>
            </a:r>
            <a:endParaRPr lang="en-US" sz="8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10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Technical Architecture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Prototype architecture optimized for fast demo and AI Studio origin.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640080" y="2148840"/>
            <a:ext cx="2331720" cy="749808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804671" y="231343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"/>
              </a:rPr>
              <a:t>React + TypeScript UI</a:t>
            </a:r>
            <a:endParaRPr lang="en-US" sz="1200"/>
          </a:p>
        </p:txBody>
      </p:sp>
      <p:sp>
        <p:nvSpPr>
          <p:cNvPr id="9" name="Rect 9"/>
          <p:cNvSpPr/>
          <p:nvPr/>
        </p:nvSpPr>
        <p:spPr>
          <a:xfrm>
            <a:off x="3429000" y="2148840"/>
            <a:ext cx="2331720" cy="749808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3593592" y="231343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"/>
              </a:rPr>
              <a:t>Vite build system</a:t>
            </a:r>
            <a:endParaRPr lang="en-US" sz="1200"/>
          </a:p>
        </p:txBody>
      </p:sp>
      <p:sp>
        <p:nvSpPr>
          <p:cNvPr id="11" name="Rect 11"/>
          <p:cNvSpPr/>
          <p:nvPr/>
        </p:nvSpPr>
        <p:spPr>
          <a:xfrm>
            <a:off x="6217920" y="2148840"/>
            <a:ext cx="2331720" cy="749808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10B981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6382512" y="231343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"/>
              </a:rPr>
              <a:t>Gemini 2.5 Flash service</a:t>
            </a:r>
            <a:endParaRPr lang="en-US" sz="1200"/>
          </a:p>
        </p:txBody>
      </p:sp>
      <p:sp>
        <p:nvSpPr>
          <p:cNvPr id="13" name="Rect 13"/>
          <p:cNvSpPr/>
          <p:nvPr/>
        </p:nvSpPr>
        <p:spPr>
          <a:xfrm>
            <a:off x="640080" y="3840480"/>
            <a:ext cx="2331720" cy="749808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06B6D4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804671" y="400507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"/>
              </a:rPr>
              <a:t>Leaflet map and POI clusters</a:t>
            </a:r>
            <a:endParaRPr lang="en-US" sz="1200"/>
          </a:p>
        </p:txBody>
      </p:sp>
      <p:sp>
        <p:nvSpPr>
          <p:cNvPr id="15" name="Rect 15"/>
          <p:cNvSpPr/>
          <p:nvPr/>
        </p:nvSpPr>
        <p:spPr>
          <a:xfrm>
            <a:off x="3429000" y="3840480"/>
            <a:ext cx="2331720" cy="749808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F43F5E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3593592" y="400507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"/>
              </a:rPr>
              <a:t>Recharts analytics</a:t>
            </a:r>
            <a:endParaRPr lang="en-US" sz="1200"/>
          </a:p>
        </p:txBody>
      </p:sp>
      <p:sp>
        <p:nvSpPr>
          <p:cNvPr id="17" name="Rect 17"/>
          <p:cNvSpPr/>
          <p:nvPr/>
        </p:nvSpPr>
        <p:spPr>
          <a:xfrm>
            <a:off x="6217920" y="3840480"/>
            <a:ext cx="2331720" cy="749808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B82F6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 txBox="1"/>
          <p:nvPr/>
        </p:nvSpPr>
        <p:spPr>
          <a:xfrm>
            <a:off x="6382512" y="400507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"/>
              </a:rPr>
              <a:t>Browser PDF export</a:t>
            </a:r>
            <a:endParaRPr lang="en-US" sz="1200"/>
          </a:p>
        </p:txBody>
      </p:sp>
      <p:sp>
        <p:nvSpPr>
          <p:cNvPr id="19" name="Rect 19"/>
          <p:cNvSpPr/>
          <p:nvPr/>
        </p:nvSpPr>
        <p:spPr>
          <a:xfrm>
            <a:off x="9006840" y="3840480"/>
            <a:ext cx="2331720" cy="749808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 txBox="1"/>
          <p:nvPr/>
        </p:nvSpPr>
        <p:spPr>
          <a:xfrm>
            <a:off x="9171432" y="4005072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"/>
              </a:rPr>
              <a:t>Embed iframe widget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11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Business Model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How NeighborhoodIQ can become more than a hackathon project.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749808" y="2258568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1005840" y="214884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B2C: paid homebuyer neighborhood due-diligence reports.</a:t>
            </a:r>
            <a:endParaRPr lang="en-US" sz="1650"/>
          </a:p>
        </p:txBody>
      </p:sp>
      <p:sp>
        <p:nvSpPr>
          <p:cNvPr id="9" name="Rect 9"/>
          <p:cNvSpPr/>
          <p:nvPr/>
        </p:nvSpPr>
        <p:spPr>
          <a:xfrm>
            <a:off x="749808" y="2825496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1005840" y="271576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B2B: API and widget for real estate portals, builders and brokers.</a:t>
            </a:r>
            <a:endParaRPr lang="en-US" sz="1650"/>
          </a:p>
        </p:txBody>
      </p:sp>
      <p:sp>
        <p:nvSpPr>
          <p:cNvPr id="11" name="Rect 11"/>
          <p:cNvSpPr/>
          <p:nvPr/>
        </p:nvSpPr>
        <p:spPr>
          <a:xfrm>
            <a:off x="749808" y="3392424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1005840" y="3282696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Enterprise: risk intelligence for banks, insurers and property funds.</a:t>
            </a:r>
            <a:endParaRPr lang="en-US" sz="1650"/>
          </a:p>
        </p:txBody>
      </p:sp>
      <p:sp>
        <p:nvSpPr>
          <p:cNvPr id="13" name="Rect 13"/>
          <p:cNvSpPr/>
          <p:nvPr/>
        </p:nvSpPr>
        <p:spPr>
          <a:xfrm>
            <a:off x="749808" y="3959352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1005840" y="3849624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Data partnerships: municipal, AQI, traffic, RERA, police and utility integrations.</a:t>
            </a:r>
            <a:endParaRPr lang="en-US" sz="16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12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Impact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Who benefits and why it matters.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685800" y="2240280"/>
            <a:ext cx="4846320" cy="9601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85800" y="224028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hape 9"/>
          <p:cNvSpPr txBox="1"/>
          <p:nvPr/>
        </p:nvSpPr>
        <p:spPr>
          <a:xfrm>
            <a:off x="1005840" y="240487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Homebuyers: less uncertainty before purchase</a:t>
            </a:r>
            <a:endParaRPr lang="en-US" sz="1650"/>
          </a:p>
        </p:txBody>
      </p:sp>
      <p:sp>
        <p:nvSpPr>
          <p:cNvPr id="10" name="Rect 10"/>
          <p:cNvSpPr/>
          <p:nvPr/>
        </p:nvSpPr>
        <p:spPr>
          <a:xfrm>
            <a:off x="6080760" y="2240280"/>
            <a:ext cx="4846320" cy="9601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6080760" y="224028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6400800" y="240487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Platforms: richer property listings</a:t>
            </a:r>
            <a:endParaRPr lang="en-US" sz="1650"/>
          </a:p>
        </p:txBody>
      </p:sp>
      <p:sp>
        <p:nvSpPr>
          <p:cNvPr id="13" name="Rect 13"/>
          <p:cNvSpPr/>
          <p:nvPr/>
        </p:nvSpPr>
        <p:spPr>
          <a:xfrm>
            <a:off x="685800" y="3566160"/>
            <a:ext cx="4846320" cy="9601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85800" y="356616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hape 15"/>
          <p:cNvSpPr txBox="1"/>
          <p:nvPr/>
        </p:nvSpPr>
        <p:spPr>
          <a:xfrm>
            <a:off x="1005840" y="373075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Banks: neighborhood risk layer</a:t>
            </a:r>
            <a:endParaRPr lang="en-US" sz="1650"/>
          </a:p>
        </p:txBody>
      </p:sp>
      <p:sp>
        <p:nvSpPr>
          <p:cNvPr id="16" name="Rect 16"/>
          <p:cNvSpPr/>
          <p:nvPr/>
        </p:nvSpPr>
        <p:spPr>
          <a:xfrm>
            <a:off x="6080760" y="3566160"/>
            <a:ext cx="4846320" cy="9601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6080760" y="3566160"/>
            <a:ext cx="73152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 18"/>
          <p:cNvSpPr txBox="1"/>
          <p:nvPr/>
        </p:nvSpPr>
        <p:spPr>
          <a:xfrm>
            <a:off x="6400800" y="373075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Cities: transparent livability benchmarks</a:t>
            </a:r>
            <a:endParaRPr lang="en-US" sz="16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13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Roadmap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What we would build next after the hackathon.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749808" y="2258568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1005840" y="214884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Move Gemini calls behind a backend for key security.</a:t>
            </a:r>
            <a:endParaRPr lang="en-US" sz="1650"/>
          </a:p>
        </p:txBody>
      </p:sp>
      <p:sp>
        <p:nvSpPr>
          <p:cNvPr id="9" name="Rect 9"/>
          <p:cNvSpPr/>
          <p:nvPr/>
        </p:nvSpPr>
        <p:spPr>
          <a:xfrm>
            <a:off x="749808" y="2825496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1005840" y="2715768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Integrate verified public datasets and city benchmarks.</a:t>
            </a:r>
            <a:endParaRPr lang="en-US" sz="1650"/>
          </a:p>
        </p:txBody>
      </p:sp>
      <p:sp>
        <p:nvSpPr>
          <p:cNvPr id="11" name="Rect 11"/>
          <p:cNvSpPr/>
          <p:nvPr/>
        </p:nvSpPr>
        <p:spPr>
          <a:xfrm>
            <a:off x="749808" y="3392424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1005840" y="3282696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Add authenticated saved reports and sharing.</a:t>
            </a:r>
            <a:endParaRPr lang="en-US" sz="1650"/>
          </a:p>
        </p:txBody>
      </p:sp>
      <p:sp>
        <p:nvSpPr>
          <p:cNvPr id="13" name="Rect 13"/>
          <p:cNvSpPr/>
          <p:nvPr/>
        </p:nvSpPr>
        <p:spPr>
          <a:xfrm>
            <a:off x="749808" y="3959352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1005840" y="3849624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Add richer PDF report branding and broker/portal embeds.</a:t>
            </a:r>
            <a:endParaRPr lang="en-US" sz="1650"/>
          </a:p>
        </p:txBody>
      </p:sp>
      <p:sp>
        <p:nvSpPr>
          <p:cNvPr id="15" name="Rect 15"/>
          <p:cNvSpPr/>
          <p:nvPr/>
        </p:nvSpPr>
        <p:spPr>
          <a:xfrm>
            <a:off x="749808" y="4526280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1005840" y="4416552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650">
                <a:solidFill>
                  <a:srgbClr val="F8FAFC"/>
                </a:solidFill>
                <a:latin typeface="Aptos"/>
              </a:rPr>
              <a:t>Create scoring standards per city and property segment.</a:t>
            </a:r>
            <a:endParaRPr lang="en-US" sz="16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28600" y="182880"/>
            <a:ext cx="73152" cy="64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000">
                <a:solidFill>
                  <a:srgbClr val="A1A1AA"/>
                </a:solidFill>
                <a:latin typeface="Aptos"/>
              </a:rPr>
              <a:t>14 / 14</a:t>
            </a:r>
            <a:endParaRPr lang="en-US" sz="1000"/>
          </a:p>
        </p:txBody>
      </p:sp>
      <p:sp>
        <p:nvSpPr>
          <p:cNvPr id="5" name="Shape 5"/>
          <p:cNvSpPr txBox="1"/>
          <p:nvPr/>
        </p:nvSpPr>
        <p:spPr>
          <a:xfrm>
            <a:off x="502920" y="6583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3600" b="1">
                <a:solidFill>
                  <a:srgbClr val="F8FAFC"/>
                </a:solidFill>
                <a:latin typeface="Aptos"/>
              </a:rPr>
              <a:t>Closing Pitch</a:t>
            </a:r>
            <a:endParaRPr lang="en-US" sz="3600"/>
          </a:p>
        </p:txBody>
      </p:sp>
      <p:sp>
        <p:nvSpPr>
          <p:cNvPr id="6" name="Shape 6"/>
          <p:cNvSpPr txBox="1"/>
          <p:nvPr/>
        </p:nvSpPr>
        <p:spPr>
          <a:xfrm>
            <a:off x="530352" y="12984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550">
                <a:solidFill>
                  <a:srgbClr val="A1A1AA"/>
                </a:solidFill>
                <a:latin typeface="Aptos"/>
              </a:rPr>
              <a:t>Every property has an inspection report. Every neighborhood should too.</a:t>
            </a:r>
            <a:endParaRPr lang="en-US" sz="1550"/>
          </a:p>
        </p:txBody>
      </p:sp>
      <p:sp>
        <p:nvSpPr>
          <p:cNvPr id="7" name="Rect 7"/>
          <p:cNvSpPr/>
          <p:nvPr/>
        </p:nvSpPr>
        <p:spPr>
          <a:xfrm>
            <a:off x="731520" y="2286000"/>
            <a:ext cx="9692640" cy="18288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txBody>
          <a:bodyPr/>
          <a:lstStyle/>
          <a:p/>
        </p:txBody>
      </p:sp>
      <p:sp>
        <p:nvSpPr>
          <p:cNvPr id="8" name="Shape 8"/>
          <p:cNvSpPr txBox="1"/>
          <p:nvPr/>
        </p:nvSpPr>
        <p:spPr>
          <a:xfrm>
            <a:off x="1097280" y="2606040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2400" b="1">
                <a:solidFill>
                  <a:srgbClr val="F8FAFC"/>
                </a:solidFill>
                <a:latin typeface="Aptos"/>
              </a:rPr>
              <a:t>NeighborhoodIQ standardizes the missing neighborhood due-diligence layer.</a:t>
            </a:r>
            <a:endParaRPr lang="en-US" sz="2400"/>
          </a:p>
        </p:txBody>
      </p:sp>
      <p:sp>
        <p:nvSpPr>
          <p:cNvPr id="9" name="Shape 9"/>
          <p:cNvSpPr txBox="1"/>
          <p:nvPr/>
        </p:nvSpPr>
        <p:spPr>
          <a:xfrm>
            <a:off x="1097280" y="3337560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1850">
                <a:solidFill>
                  <a:srgbClr val="A1A1AA"/>
                </a:solidFill>
                <a:latin typeface="Aptos"/>
              </a:rPr>
              <a:t>It helps buyers compare, verify and decide before committing crores to an address.</a:t>
            </a:r>
            <a:endParaRPr lang="en-US" sz="1850"/>
          </a:p>
        </p:txBody>
      </p:sp>
      <p:sp>
        <p:nvSpPr>
          <p:cNvPr id="10" name="Shape 10"/>
          <p:cNvSpPr txBox="1"/>
          <p:nvPr/>
        </p:nvSpPr>
        <p:spPr>
          <a:xfrm>
            <a:off x="822960" y="525780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r>
              <a:rPr lang="en-US" sz="2000" b="1">
                <a:solidFill>
                  <a:srgbClr val="F59E0B"/>
                </a:solidFill>
                <a:latin typeface="Aptos"/>
              </a:rPr>
              <a:t>NeighborhoodIQ: Inspect the area before you invest in the address.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ighborhoodIQ">
  <a:themeElements>
    <a:clrScheme name="NeighborhoodIQ">
      <a:dk1>
        <a:srgbClr val="050505"/>
      </a:dk1>
      <a:lt1>
        <a:srgbClr val="F8FAFC"/>
      </a:lt1>
      <a:dk2>
        <a:srgbClr val="18181B"/>
      </a:dk2>
      <a:lt2>
        <a:srgbClr val="F4F4F5"/>
      </a:lt2>
      <a:accent1>
        <a:srgbClr val="F59E0B"/>
      </a:accent1>
      <a:accent2>
        <a:srgbClr val="10B981"/>
      </a:accent2>
      <a:accent3>
        <a:srgbClr val="3B82F6"/>
      </a:accent3>
      <a:accent4>
        <a:srgbClr val="F43F5E"/>
      </a:accent4>
      <a:accent5>
        <a:srgbClr val="06B6D4"/>
      </a:accent5>
      <a:accent6>
        <a:srgbClr val="A1A1AA"/>
      </a:accent6>
      <a:hlink>
        <a:srgbClr val="3B82F6"/>
      </a:hlink>
      <a:folHlink>
        <a:srgbClr val="F59E0B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NeighborhoodIQ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14</Slides>
  <Company>NeighborhoodIQ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NeighborhoodIQ Hackathon Pitch</dc:title>
  <dc:creator>NeighborhoodIQ Team</dc:creator>
  <cp:lastModifiedBy>Codex</cp:lastModifiedBy>
  <dcterms:created xsi:type="dcterms:W3CDTF">2026-04-26T13:40:40Z</dcterms:created>
  <dcterms:modified xsi:type="dcterms:W3CDTF">2026-04-26T13:40:40Z</dcterms:modified>
</cp:coreProperties>
</file>